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65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</p:sldIdLst>
  <p:sldSz cx="14630400" cy="8229600"/>
  <p:notesSz cx="8229600" cy="14630400"/>
  <p:embeddedFontLst>
    <p:embeddedFont>
      <p:font typeface="Algerian" panose="04020705040A02060702" pitchFamily="82" charset="0"/>
      <p:regular r:id="rId14"/>
    </p:embeddedFont>
    <p:embeddedFont>
      <p:font typeface="Cascadia Mono" panose="020B0609020000020004" pitchFamily="49" charset="0"/>
      <p:regular r:id="rId15"/>
      <p:bold r:id="rId16"/>
      <p:italic r:id="rId17"/>
      <p:boldItalic r:id="rId18"/>
    </p:embeddedFont>
    <p:embeddedFont>
      <p:font typeface="Garamond" panose="02020404030301010803" pitchFamily="18" charset="0"/>
      <p:regular r:id="rId19"/>
      <p:bold r:id="rId20"/>
      <p:italic r:id="rId21"/>
    </p:embeddedFont>
    <p:embeddedFont>
      <p:font typeface="Georgia" panose="02040502050405020303" pitchFamily="18" charset="0"/>
      <p:regular r:id="rId22"/>
      <p:bold r:id="rId23"/>
      <p:italic r:id="rId24"/>
      <p:boldItalic r:id="rId25"/>
    </p:embeddedFont>
    <p:embeddedFont>
      <p:font typeface="Heebo" pitchFamily="2" charset="-79"/>
      <p:regular r:id="rId26"/>
    </p:embeddedFont>
    <p:embeddedFont>
      <p:font typeface="Inter" panose="020B0604020202020204" charset="0"/>
      <p:regular r:id="rId27"/>
    </p:embeddedFont>
    <p:embeddedFont>
      <p:font typeface="Lato" panose="020F0502020204030203" pitchFamily="34" charset="0"/>
      <p:regular r:id="rId28"/>
      <p:bold r:id="rId29"/>
      <p:italic r:id="rId30"/>
      <p:boldItalic r:id="rId31"/>
    </p:embeddedFont>
    <p:embeddedFont>
      <p:font typeface="Poppins" panose="00000500000000000000" pitchFamily="2" charset="0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33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9" Type="http://schemas.openxmlformats.org/officeDocument/2006/relationships/tableStyles" Target="tableStyles.xml"/><Relationship Id="rId21" Type="http://schemas.openxmlformats.org/officeDocument/2006/relationships/font" Target="fonts/font8.fntdata"/><Relationship Id="rId34" Type="http://schemas.openxmlformats.org/officeDocument/2006/relationships/font" Target="fonts/font2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font" Target="fonts/font2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29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65294-44E4-9B17-47CA-73847B5E7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A98B50-620A-6321-DF34-5DBF542A2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2B11DE-E379-0C29-8864-062598C61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AF2F0-9513-D80C-95D9-E92EF9110C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1732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0321" y="0"/>
            <a:ext cx="14677392" cy="8227457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0878" y="2245358"/>
            <a:ext cx="8178803" cy="1818640"/>
          </a:xfrm>
        </p:spPr>
        <p:txBody>
          <a:bodyPr anchor="b">
            <a:noAutofit/>
          </a:bodyPr>
          <a:lstStyle>
            <a:lvl1pPr algn="ctr">
              <a:defRPr sz="648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0878" y="4389117"/>
            <a:ext cx="8178803" cy="1584962"/>
          </a:xfrm>
        </p:spPr>
        <p:txBody>
          <a:bodyPr anchor="t">
            <a:normAutofit/>
          </a:bodyPr>
          <a:lstStyle>
            <a:lvl1pPr marL="0" indent="0" algn="ctr">
              <a:buNone/>
              <a:defRPr sz="2520">
                <a:solidFill>
                  <a:schemeClr val="tx1"/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579879" y="6045196"/>
            <a:ext cx="1076960" cy="335280"/>
          </a:xfrm>
        </p:spPr>
        <p:txBody>
          <a:bodyPr/>
          <a:lstStyle/>
          <a:p>
            <a:fld id="{C36821FB-993F-41CF-9D8A-7570A99AEC9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30877" y="6045196"/>
            <a:ext cx="6257562" cy="33528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48281" y="6045196"/>
            <a:ext cx="661400" cy="335280"/>
          </a:xfrm>
        </p:spPr>
        <p:txBody>
          <a:bodyPr/>
          <a:lstStyle/>
          <a:p>
            <a:fld id="{24ED4201-E727-4D23-B352-79D0AD2D6B7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3230879" y="4226557"/>
            <a:ext cx="81788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00166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21FB-993F-41CF-9D8A-7570A99AEC9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D4201-E727-4D23-B352-79D0AD2D6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66441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8083" y="2103127"/>
            <a:ext cx="9790426" cy="2187017"/>
          </a:xfrm>
        </p:spPr>
        <p:txBody>
          <a:bodyPr anchor="b">
            <a:normAutofit/>
          </a:bodyPr>
          <a:lstStyle>
            <a:lvl1pPr algn="ctr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18080" y="4615262"/>
            <a:ext cx="9790428" cy="1145456"/>
          </a:xfrm>
        </p:spPr>
        <p:txBody>
          <a:bodyPr anchor="t">
            <a:normAutofit/>
          </a:bodyPr>
          <a:lstStyle>
            <a:lvl1pPr marL="0" indent="0" algn="ctr"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21FB-993F-41CF-9D8A-7570A99AEC9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D4201-E727-4D23-B352-79D0AD2D6B7A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415268" y="4452702"/>
            <a:ext cx="979605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35349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58138" y="3072384"/>
            <a:ext cx="5661965" cy="397215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17613" y="3072384"/>
            <a:ext cx="5661965" cy="397215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21FB-993F-41CF-9D8A-7570A99AEC9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D4201-E727-4D23-B352-79D0AD2D6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51758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0" y="3190240"/>
            <a:ext cx="5661965" cy="691514"/>
          </a:xfrm>
        </p:spPr>
        <p:txBody>
          <a:bodyPr anchor="b">
            <a:noAutofit/>
          </a:bodyPr>
          <a:lstStyle>
            <a:lvl1pPr marL="0" indent="0">
              <a:spcBef>
                <a:spcPts val="806"/>
              </a:spcBef>
              <a:spcAft>
                <a:spcPts val="720"/>
              </a:spcAft>
              <a:buNone/>
              <a:defRPr sz="336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54480" y="3891915"/>
            <a:ext cx="5661965" cy="315912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16804" y="3190240"/>
            <a:ext cx="5661965" cy="691514"/>
          </a:xfrm>
        </p:spPr>
        <p:txBody>
          <a:bodyPr anchor="b">
            <a:noAutofit/>
          </a:bodyPr>
          <a:lstStyle>
            <a:lvl1pPr marL="0" indent="0">
              <a:spcBef>
                <a:spcPts val="806"/>
              </a:spcBef>
              <a:spcAft>
                <a:spcPts val="720"/>
              </a:spcAft>
              <a:buNone/>
              <a:defRPr sz="336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16804" y="3891915"/>
            <a:ext cx="5661965" cy="315912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21FB-993F-41CF-9D8A-7570A99AEC9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D4201-E727-4D23-B352-79D0AD2D6B7A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069903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21FB-993F-41CF-9D8A-7570A99AEC9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D4201-E727-4D23-B352-79D0AD2D6B7A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829433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21FB-993F-41CF-9D8A-7570A99AEC9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D4201-E727-4D23-B352-79D0AD2D6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39520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2574" y="1666241"/>
            <a:ext cx="4462146" cy="1645920"/>
          </a:xfrm>
        </p:spPr>
        <p:txBody>
          <a:bodyPr anchor="b">
            <a:normAutofit/>
          </a:bodyPr>
          <a:lstStyle>
            <a:lvl1pPr algn="ctr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2402" y="1178558"/>
            <a:ext cx="6563359" cy="5872482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2574" y="3637278"/>
            <a:ext cx="4462146" cy="2926085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21FB-993F-41CF-9D8A-7570A99AEC9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D4201-E727-4D23-B352-79D0AD2D6B7A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675403" y="3495040"/>
            <a:ext cx="42173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089917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79" y="2260598"/>
            <a:ext cx="7490179" cy="1645920"/>
          </a:xfrm>
        </p:spPr>
        <p:txBody>
          <a:bodyPr anchor="b">
            <a:normAutofit/>
          </a:bodyPr>
          <a:lstStyle>
            <a:lvl1pPr algn="ctr">
              <a:defRPr sz="336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3798" y="1249680"/>
            <a:ext cx="3676016" cy="573024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4479" y="3906518"/>
            <a:ext cx="7490179" cy="2194560"/>
          </a:xfrm>
        </p:spPr>
        <p:txBody>
          <a:bodyPr anchor="t">
            <a:normAutofit/>
          </a:bodyPr>
          <a:lstStyle>
            <a:lvl1pPr marL="0" indent="0" algn="ctr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21FB-993F-41CF-9D8A-7570A99AEC9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D4201-E727-4D23-B352-79D0AD2D6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41543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1" y="5778498"/>
            <a:ext cx="11531599" cy="680086"/>
          </a:xfrm>
        </p:spPr>
        <p:txBody>
          <a:bodyPr anchor="b">
            <a:normAutofit/>
          </a:bodyPr>
          <a:lstStyle>
            <a:lvl1pPr algn="ctr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49713" y="1249679"/>
            <a:ext cx="12127166" cy="4003043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4481" y="6458584"/>
            <a:ext cx="11531599" cy="592454"/>
          </a:xfrm>
        </p:spPr>
        <p:txBody>
          <a:bodyPr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21FB-993F-41CF-9D8A-7570A99AEC9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D4201-E727-4D23-B352-79D0AD2D6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4356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642" y="1178558"/>
            <a:ext cx="11511278" cy="3545842"/>
          </a:xfrm>
        </p:spPr>
        <p:txBody>
          <a:bodyPr anchor="ctr">
            <a:normAutofit/>
          </a:bodyPr>
          <a:lstStyle>
            <a:lvl1pPr algn="ctr">
              <a:defRPr sz="3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4642" y="5212080"/>
            <a:ext cx="11511278" cy="18389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21FB-993F-41CF-9D8A-7570A99AEC9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D4201-E727-4D23-B352-79D0AD2D6B7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675403" y="496823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18156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1178558"/>
            <a:ext cx="11155678" cy="2844802"/>
          </a:xfrm>
        </p:spPr>
        <p:txBody>
          <a:bodyPr anchor="ctr">
            <a:normAutofit/>
          </a:bodyPr>
          <a:lstStyle>
            <a:lvl1pPr algn="ctr">
              <a:defRPr sz="384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09775" y="4023360"/>
            <a:ext cx="10607042" cy="70104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400"/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5212080"/>
            <a:ext cx="11531599" cy="18389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21FB-993F-41CF-9D8A-7570A99AEC9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D4201-E727-4D23-B352-79D0AD2D6B7A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1034416" y="105595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20320" y="339344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675403" y="496823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212259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2" y="3970297"/>
            <a:ext cx="11531602" cy="1762560"/>
          </a:xfrm>
        </p:spPr>
        <p:txBody>
          <a:bodyPr anchor="b">
            <a:normAutofit/>
          </a:bodyPr>
          <a:lstStyle>
            <a:lvl1pPr algn="l">
              <a:defRPr sz="3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5732857"/>
            <a:ext cx="11531602" cy="1032480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21FB-993F-41CF-9D8A-7570A99AEC9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D4201-E727-4D23-B352-79D0AD2D6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64226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1178558"/>
            <a:ext cx="11155678" cy="2692402"/>
          </a:xfrm>
        </p:spPr>
        <p:txBody>
          <a:bodyPr anchor="ctr">
            <a:normAutofit/>
          </a:bodyPr>
          <a:lstStyle>
            <a:lvl1pPr algn="ctr">
              <a:defRPr sz="384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554481" y="4367174"/>
            <a:ext cx="11531602" cy="1064362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5435600"/>
            <a:ext cx="11531602" cy="161544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21FB-993F-41CF-9D8A-7570A99AEC9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D4201-E727-4D23-B352-79D0AD2D6B7A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034416" y="105595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20320" y="311911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675403" y="4114800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01572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1" y="1178558"/>
            <a:ext cx="11531599" cy="269240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554481" y="4356201"/>
            <a:ext cx="11531602" cy="100949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33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0" y="5364480"/>
            <a:ext cx="11531604" cy="168656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21FB-993F-41CF-9D8A-7570A99AEC9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D4201-E727-4D23-B352-79D0AD2D6B7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675403" y="4114800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005172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21FB-993F-41CF-9D8A-7570A99AEC9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D4201-E727-4D23-B352-79D0AD2D6B7A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745366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99228" y="1178558"/>
            <a:ext cx="2269074" cy="58724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54478" y="1178558"/>
            <a:ext cx="8919630" cy="587248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21FB-993F-41CF-9D8A-7570A99AEC9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D4201-E727-4D23-B352-79D0AD2D6B7A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636668" y="1188720"/>
            <a:ext cx="0" cy="585216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785987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25858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86527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0942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27160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00248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57188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22579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0489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38211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3535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8883" y="0"/>
            <a:ext cx="14675954" cy="8227457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4483" y="1178559"/>
            <a:ext cx="11521435" cy="156464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3068319"/>
            <a:ext cx="11521435" cy="39827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13001" y="7162800"/>
            <a:ext cx="1920240" cy="335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36821FB-993F-41CF-9D8A-7570A99AEC9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54481" y="7162800"/>
            <a:ext cx="8767080" cy="335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24682" y="7162800"/>
            <a:ext cx="651236" cy="335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4ED4201-E727-4D23-B352-79D0AD2D6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988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  <p:sldLayoutId id="2147483780" r:id="rId15"/>
    <p:sldLayoutId id="2147483781" r:id="rId16"/>
    <p:sldLayoutId id="2147483782" r:id="rId17"/>
    <p:sldLayoutId id="2147483783" r:id="rId18"/>
    <p:sldLayoutId id="2147483784" r:id="rId19"/>
    <p:sldLayoutId id="2147483785" r:id="rId20"/>
    <p:sldLayoutId id="2147483786" r:id="rId21"/>
    <p:sldLayoutId id="2147483787" r:id="rId22"/>
    <p:sldLayoutId id="2147483788" r:id="rId23"/>
    <p:sldLayoutId id="2147483789" r:id="rId24"/>
    <p:sldLayoutId id="2147483790" r:id="rId25"/>
    <p:sldLayoutId id="2147483791" r:id="rId26"/>
    <p:sldLayoutId id="2147483792" r:id="rId27"/>
  </p:sldLayoutIdLst>
  <p:hf sldNum="0" hdr="0" ftr="0" dt="0"/>
  <p:txStyles>
    <p:titleStyle>
      <a:lvl1pPr algn="ctr" defTabSz="548640" rtl="0" eaLnBrk="1" latinLnBrk="0" hangingPunct="1">
        <a:spcBef>
          <a:spcPct val="0"/>
        </a:spcBef>
        <a:buNone/>
        <a:defRPr sz="528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28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44018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216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85166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92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40030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Relationship Id="rId9" Type="http://schemas.openxmlformats.org/officeDocument/2006/relationships/image" Target="../media/image16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38.svg"/><Relationship Id="rId11" Type="http://schemas.openxmlformats.org/officeDocument/2006/relationships/image" Target="../media/image43.jpg"/><Relationship Id="rId5" Type="http://schemas.openxmlformats.org/officeDocument/2006/relationships/image" Target="../media/image37.png"/><Relationship Id="rId10" Type="http://schemas.openxmlformats.org/officeDocument/2006/relationships/image" Target="../media/image42.webp"/><Relationship Id="rId4" Type="http://schemas.openxmlformats.org/officeDocument/2006/relationships/image" Target="../media/image36.svg"/><Relationship Id="rId9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8.png"/><Relationship Id="rId5" Type="http://schemas.openxmlformats.org/officeDocument/2006/relationships/image" Target="../media/image47.jpeg"/><Relationship Id="rId4" Type="http://schemas.openxmlformats.org/officeDocument/2006/relationships/image" Target="../media/image4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56.png"/><Relationship Id="rId4" Type="http://schemas.openxmlformats.org/officeDocument/2006/relationships/hyperlink" Target="https://openclipart.org/detail/154441/indian-flag-2-by-gsagri0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63228" y="4385558"/>
            <a:ext cx="72160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Georgia" panose="02040502050405020303" pitchFamily="18" charset="0"/>
                <a:ea typeface="Inter Bold" pitchFamily="34" charset="-122"/>
                <a:cs typeface="Inter Bold" pitchFamily="34" charset="-120"/>
              </a:rPr>
              <a:t>AI-Powered</a:t>
            </a: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Kissan Buddy</a:t>
            </a:r>
            <a:endParaRPr lang="en-US" sz="44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28691A-F111-4F46-DA57-65B0009D1239}"/>
              </a:ext>
            </a:extLst>
          </p:cNvPr>
          <p:cNvSpPr txBox="1"/>
          <p:nvPr/>
        </p:nvSpPr>
        <p:spPr>
          <a:xfrm>
            <a:off x="4623783" y="5120165"/>
            <a:ext cx="6450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2525"/>
                </a:solidFill>
                <a:latin typeface="Heebo" pitchFamily="2" charset="-79"/>
                <a:ea typeface="Inter" pitchFamily="34" charset="-122"/>
                <a:cs typeface="Heebo" pitchFamily="2" charset="-79"/>
              </a:rPr>
              <a:t>Bridging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gap between data science and rural farming.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0FB055-76D7-74D8-6EE7-5746CFED2336}"/>
              </a:ext>
            </a:extLst>
          </p:cNvPr>
          <p:cNvSpPr txBox="1"/>
          <p:nvPr/>
        </p:nvSpPr>
        <p:spPr>
          <a:xfrm>
            <a:off x="10892413" y="5645710"/>
            <a:ext cx="28953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Krishna Bahadur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Naman Sharan Yadav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Aakriti Pathak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38DA17-B58F-F588-57D2-345D5C38A352}"/>
              </a:ext>
            </a:extLst>
          </p:cNvPr>
          <p:cNvSpPr txBox="1"/>
          <p:nvPr/>
        </p:nvSpPr>
        <p:spPr>
          <a:xfrm>
            <a:off x="1145513" y="5645710"/>
            <a:ext cx="3007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Guided by:-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Nitya Nand Dwivedi</a:t>
            </a:r>
            <a:endParaRPr lang="en-IN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81464B-5A22-F3E7-7FAF-828354E7FE81}"/>
              </a:ext>
            </a:extLst>
          </p:cNvPr>
          <p:cNvSpPr txBox="1"/>
          <p:nvPr/>
        </p:nvSpPr>
        <p:spPr>
          <a:xfrm>
            <a:off x="1062418" y="847482"/>
            <a:ext cx="128083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rgbClr val="272525"/>
                </a:solidFill>
                <a:latin typeface="Cascadia Mono" panose="020B0609020000020004" pitchFamily="49" charset="0"/>
                <a:ea typeface="Inter" pitchFamily="34" charset="-122"/>
                <a:cs typeface="Cascadia Mono" panose="020B0609020000020004" pitchFamily="49" charset="0"/>
              </a:rPr>
              <a:t>Shri Ramswaroop Memorial University</a:t>
            </a:r>
            <a:endParaRPr lang="en-IN" sz="48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CF264C-A4ED-36F7-0420-5678B0DED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890" y="1694699"/>
            <a:ext cx="1672620" cy="16726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A2D4012-8131-0278-12BE-A3AAFDB42F60}"/>
              </a:ext>
            </a:extLst>
          </p:cNvPr>
          <p:cNvSpPr txBox="1"/>
          <p:nvPr/>
        </p:nvSpPr>
        <p:spPr>
          <a:xfrm>
            <a:off x="6478890" y="3406122"/>
            <a:ext cx="1938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DCSIS-[2025-2026]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D5886C-D3ED-D619-9BB1-7178A624D957}"/>
              </a:ext>
            </a:extLst>
          </p:cNvPr>
          <p:cNvSpPr txBox="1"/>
          <p:nvPr/>
        </p:nvSpPr>
        <p:spPr>
          <a:xfrm>
            <a:off x="5576943" y="3838893"/>
            <a:ext cx="3988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Algerian" panose="04020705040A02060702" pitchFamily="82" charset="0"/>
              </a:rPr>
              <a:t>Research Project- II</a:t>
            </a:r>
            <a:endParaRPr lang="en-IN" sz="2800" dirty="0">
              <a:latin typeface="Algerian" panose="04020705040A02060702" pitchFamily="82" charset="0"/>
            </a:endParaRPr>
          </a:p>
        </p:txBody>
      </p:sp>
      <p:pic>
        <p:nvPicPr>
          <p:cNvPr id="1034" name="Picture 10" descr="Farmer Black and White Vector Images (over 38,000)">
            <a:extLst>
              <a:ext uri="{FF2B5EF4-FFF2-40B4-BE49-F238E27FC236}">
                <a16:creationId xmlns:a16="http://schemas.microsoft.com/office/drawing/2014/main" id="{0A33676F-B51D-83F9-8EF9-A3853A0BF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489" y="1484668"/>
            <a:ext cx="2546139" cy="3281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Farmer sketch hi-res stock photography and images - Alamy">
            <a:extLst>
              <a:ext uri="{FF2B5EF4-FFF2-40B4-BE49-F238E27FC236}">
                <a16:creationId xmlns:a16="http://schemas.microsoft.com/office/drawing/2014/main" id="{AA7731F3-88B5-BD4D-43DA-94513F6E9A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4" t="7293" r="14000" b="10181"/>
          <a:stretch>
            <a:fillRect/>
          </a:stretch>
        </p:blipFill>
        <p:spPr bwMode="auto">
          <a:xfrm>
            <a:off x="10987029" y="1856347"/>
            <a:ext cx="2073546" cy="2531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90287" y="1106627"/>
            <a:ext cx="100497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Georgia" panose="02040502050405020303" pitchFamily="18" charset="0"/>
                <a:ea typeface="Inter Bold" pitchFamily="34" charset="-122"/>
                <a:cs typeface="Inter Bold" pitchFamily="34" charset="-120"/>
              </a:rPr>
              <a:t>Frontend Strategy: Tools &amp; Rationale</a:t>
            </a:r>
            <a:endParaRPr lang="en-US" sz="4450" dirty="0">
              <a:latin typeface="Georgia" panose="020405020504050203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827077" y="3182650"/>
            <a:ext cx="2379473" cy="2562489"/>
          </a:xfrm>
          <a:prstGeom prst="roundRect">
            <a:avLst>
              <a:gd name="adj" fmla="val 28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16212" y="244072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03378" y="2627769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4183" y="3270333"/>
            <a:ext cx="1607672" cy="276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Cascadia Mono" panose="020B0609020000020004" pitchFamily="49" charset="0"/>
              </a:rPr>
              <a:t>React.js Core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034751" y="3548146"/>
            <a:ext cx="2113609" cy="1133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High-performance, component-based Single Page Application ensuring seamless user experience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684831" y="3154577"/>
            <a:ext cx="2379473" cy="2590562"/>
          </a:xfrm>
          <a:prstGeom prst="roundRect">
            <a:avLst>
              <a:gd name="adj" fmla="val 28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27023" y="238429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14189" y="2571345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814189" y="3273981"/>
            <a:ext cx="1607672" cy="276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Cascadia Mono" panose="020B0609020000020004" pitchFamily="49" charset="0"/>
              </a:rPr>
              <a:t>Vanilla JS &amp; AJAX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8896894" y="3880960"/>
            <a:ext cx="2113609" cy="1133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Fast, asynchronous updates without page reloads—critical for low-bandwidth rural internet conditions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11393101" y="3156359"/>
            <a:ext cx="2379473" cy="2590562"/>
          </a:xfrm>
          <a:prstGeom prst="roundRect">
            <a:avLst>
              <a:gd name="adj" fmla="val 28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287392" y="238429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74558" y="2571345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74558" y="3270333"/>
            <a:ext cx="1607672" cy="276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Chart.js Integration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11590069" y="3578575"/>
            <a:ext cx="2113609" cy="1133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Transforms complex market data into simple, visual price trends that farmers can understand instantly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93790" y="611969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Create a lightweight yet powerful interface that feels modern but remains functional on basic smartphones commonly used by rural farmers.</a:t>
            </a:r>
            <a:endParaRPr lang="en-US" sz="17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A4A0D8D-54F9-247E-F0D6-DD1F5688E89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282" t="13447" r="3282" b="1343"/>
          <a:stretch>
            <a:fillRect/>
          </a:stretch>
        </p:blipFill>
        <p:spPr>
          <a:xfrm>
            <a:off x="898174" y="1926005"/>
            <a:ext cx="4877309" cy="38209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615" y="894071"/>
            <a:ext cx="12926496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Georgia" panose="02040502050405020303" pitchFamily="18" charset="0"/>
                <a:ea typeface="Inter Bold" pitchFamily="34" charset="-122"/>
                <a:cs typeface="Heebo" pitchFamily="2" charset="-79"/>
              </a:rPr>
              <a:t>Creating the Experience (Home &amp; Dashboard)</a:t>
            </a:r>
            <a:endParaRPr lang="en-US" sz="4000" dirty="0">
              <a:latin typeface="Georgia" panose="02040502050405020303" pitchFamily="18" charset="0"/>
              <a:cs typeface="Heebo" pitchFamily="2" charset="-79"/>
            </a:endParaRPr>
          </a:p>
        </p:txBody>
      </p:sp>
      <p:sp>
        <p:nvSpPr>
          <p:cNvPr id="5" name="Text 2"/>
          <p:cNvSpPr/>
          <p:nvPr/>
        </p:nvSpPr>
        <p:spPr>
          <a:xfrm>
            <a:off x="9299721" y="1951011"/>
            <a:ext cx="4313277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b="1" dirty="0"/>
              <a:t> </a:t>
            </a:r>
            <a:r>
              <a:rPr lang="en-GB" sz="2000" b="1" dirty="0">
                <a:latin typeface="Heebo" pitchFamily="2" charset="-79"/>
                <a:cs typeface="Heebo" pitchFamily="2" charset="-79"/>
              </a:rPr>
              <a:t>1. UI Design (Glass morphism UI)</a:t>
            </a:r>
          </a:p>
          <a:p>
            <a:r>
              <a:rPr lang="en-GB" sz="1600" dirty="0">
                <a:latin typeface="Inter" panose="020B0604020202020204" charset="0"/>
                <a:ea typeface="Inter" panose="020B0604020202020204" charset="0"/>
              </a:rPr>
              <a:t>The app uses a </a:t>
            </a:r>
            <a:r>
              <a:rPr lang="en-GB" sz="1600" b="1" dirty="0">
                <a:latin typeface="Inter" panose="020B0604020202020204" charset="0"/>
                <a:ea typeface="Inter" panose="020B0604020202020204" charset="0"/>
              </a:rPr>
              <a:t>modern design style</a:t>
            </a:r>
            <a:r>
              <a:rPr lang="en-GB" sz="1600" dirty="0">
                <a:latin typeface="Inter" panose="020B0604020202020204" charset="0"/>
                <a:ea typeface="Inter" panose="020B0604020202020204" charset="0"/>
              </a:rPr>
              <a:t> called </a:t>
            </a:r>
            <a:r>
              <a:rPr lang="en-GB" sz="1600" i="1" dirty="0">
                <a:latin typeface="Inter" panose="020B0604020202020204" charset="0"/>
                <a:ea typeface="Inter" panose="020B0604020202020204" charset="0"/>
              </a:rPr>
              <a:t>Glass morphism</a:t>
            </a:r>
            <a:r>
              <a:rPr lang="en-GB" sz="1600" dirty="0">
                <a:latin typeface="Inter" panose="020B0604020202020204" charset="0"/>
                <a:ea typeface="Inter" panose="020B0604020202020204" charset="0"/>
              </a:rPr>
              <a:t> .</a:t>
            </a:r>
          </a:p>
          <a:p>
            <a:r>
              <a:rPr lang="en-GB" sz="1600" b="1" u="sng" dirty="0">
                <a:latin typeface="Inter" panose="020B0604020202020204" charset="0"/>
                <a:ea typeface="Inter" panose="020B0604020202020204" charset="0"/>
              </a:rPr>
              <a:t>Colours:</a:t>
            </a:r>
            <a:r>
              <a:rPr lang="en-GB" sz="1600" u="sng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GB" sz="1600" b="1" dirty="0">
                <a:latin typeface="Inter" panose="020B0604020202020204" charset="0"/>
                <a:ea typeface="Inter" panose="020B0604020202020204" charset="0"/>
              </a:rPr>
              <a:t>green &amp; brown tones</a:t>
            </a:r>
            <a:r>
              <a:rPr lang="en-GB" sz="1600" dirty="0">
                <a:latin typeface="Inter" panose="020B0604020202020204" charset="0"/>
                <a:ea typeface="Inter" panose="020B0604020202020204" charset="0"/>
              </a:rPr>
              <a:t> (related to farming 🌱) </a:t>
            </a:r>
          </a:p>
          <a:p>
            <a:r>
              <a:rPr lang="en-GB" sz="1600" dirty="0">
                <a:latin typeface="Inter" panose="020B0604020202020204" charset="0"/>
                <a:ea typeface="Inter" panose="020B0604020202020204" charset="0"/>
              </a:rPr>
              <a:t>Clean, simple, and easy to understand for farmers .</a:t>
            </a:r>
          </a:p>
          <a:p>
            <a:r>
              <a:rPr lang="en-GB" sz="1600" dirty="0">
                <a:latin typeface="Inter" panose="020B0604020202020204" charset="0"/>
                <a:ea typeface="Inter" panose="020B0604020202020204" charset="0"/>
              </a:rPr>
              <a:t> Goal: Make the app </a:t>
            </a:r>
            <a:r>
              <a:rPr lang="en-GB" sz="1600" b="1" dirty="0">
                <a:latin typeface="Inter" panose="020B0604020202020204" charset="0"/>
                <a:ea typeface="Inter" panose="020B0604020202020204" charset="0"/>
              </a:rPr>
              <a:t>attractive + easy to use</a:t>
            </a:r>
            <a:endParaRPr lang="en-GB" sz="16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331883" y="4472822"/>
            <a:ext cx="4313277" cy="980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b="1" dirty="0">
                <a:latin typeface="Heebo" pitchFamily="2" charset="-79"/>
                <a:cs typeface="Heebo" pitchFamily="2" charset="-79"/>
              </a:rPr>
              <a:t>2. Central Dashboard (Main Screen)</a:t>
            </a:r>
          </a:p>
          <a:p>
            <a:r>
              <a:rPr lang="en-GB" dirty="0"/>
              <a:t>This is the </a:t>
            </a:r>
            <a:r>
              <a:rPr lang="en-GB" b="1" dirty="0"/>
              <a:t>main control panel</a:t>
            </a:r>
            <a:r>
              <a:rPr lang="en-GB" dirty="0"/>
              <a:t> for farmers.</a:t>
            </a:r>
          </a:p>
          <a:p>
            <a:r>
              <a:rPr lang="en-GB" b="1" dirty="0"/>
              <a:t>Features:</a:t>
            </a:r>
          </a:p>
          <a:p>
            <a:r>
              <a:rPr lang="en-GB" dirty="0"/>
              <a:t>🌦️ Weather forecast (real-time updates) </a:t>
            </a:r>
          </a:p>
          <a:p>
            <a:r>
              <a:rPr lang="en-GB" dirty="0"/>
              <a:t>💰 Market price tracking (mandi rates) </a:t>
            </a:r>
          </a:p>
          <a:p>
            <a:r>
              <a:rPr lang="en-GB" dirty="0"/>
              <a:t>🤖 AI-based farming advice </a:t>
            </a:r>
          </a:p>
          <a:p>
            <a:r>
              <a:rPr lang="en-GB" dirty="0"/>
              <a:t>📍 Location-based services (maps, local data) </a:t>
            </a:r>
          </a:p>
          <a:p>
            <a:r>
              <a:rPr lang="en-GB" dirty="0"/>
              <a:t>👉 Goal: Give </a:t>
            </a:r>
            <a:r>
              <a:rPr lang="en-GB" b="1" dirty="0"/>
              <a:t>all important information in one place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56B4C6-A298-158C-B0E8-51968C36C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896" y="1924074"/>
            <a:ext cx="2205756" cy="11798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74DA91-D485-4350-9837-ED56F4A40E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67" y="1951011"/>
            <a:ext cx="2279895" cy="11798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DF68A7-BEFC-3B53-A910-9DAF7D74A6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6470" y="1951011"/>
            <a:ext cx="2205756" cy="11826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008F98-4E6E-51CE-A2BA-56794677DF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9413" y="3352197"/>
            <a:ext cx="2283115" cy="1208842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984286D1-95A0-1791-24DC-B0777430D49C}"/>
              </a:ext>
            </a:extLst>
          </p:cNvPr>
          <p:cNvGrpSpPr/>
          <p:nvPr/>
        </p:nvGrpSpPr>
        <p:grpSpPr>
          <a:xfrm>
            <a:off x="1191896" y="4854694"/>
            <a:ext cx="1984653" cy="2553574"/>
            <a:chOff x="0" y="0"/>
            <a:chExt cx="5747385" cy="84582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215338F-2C4B-6AAC-DCFC-029CC0A3756D}"/>
                </a:ext>
              </a:extLst>
            </p:cNvPr>
            <p:cNvGrpSpPr/>
            <p:nvPr/>
          </p:nvGrpSpPr>
          <p:grpSpPr>
            <a:xfrm>
              <a:off x="0" y="0"/>
              <a:ext cx="5747385" cy="6863080"/>
              <a:chOff x="0" y="0"/>
              <a:chExt cx="5747838" cy="6858481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A5CADC98-C957-F4B4-8E79-ECCFE06A784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1387"/>
              <a:stretch>
                <a:fillRect/>
              </a:stretch>
            </p:blipFill>
            <p:spPr bwMode="auto">
              <a:xfrm>
                <a:off x="16328" y="0"/>
                <a:ext cx="5731510" cy="2682875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89C5D34B-BC9D-B84B-579A-F9A3EFAD57A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2210"/>
              <a:stretch>
                <a:fillRect/>
              </a:stretch>
            </p:blipFill>
            <p:spPr>
              <a:xfrm>
                <a:off x="0" y="4789715"/>
                <a:ext cx="5731510" cy="2068766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6E38D6BC-449E-8F5C-1CB5-C7B4C26B1C3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225"/>
              <a:stretch>
                <a:fillRect/>
              </a:stretch>
            </p:blipFill>
            <p:spPr>
              <a:xfrm>
                <a:off x="21771" y="2732315"/>
                <a:ext cx="5616575" cy="2057400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68739D5-73A3-D8CF-6CA6-9ED3FA49D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29" y="6896100"/>
              <a:ext cx="5649595" cy="1562100"/>
            </a:xfrm>
            <a:prstGeom prst="rect">
              <a:avLst/>
            </a:prstGeom>
          </p:spPr>
        </p:pic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7F058F5D-1312-DA46-524E-1C80509F660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02106" y="3454837"/>
            <a:ext cx="2205756" cy="105278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CCD29F3-C035-B18F-F723-83EDA2A6746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07115" y="3412482"/>
            <a:ext cx="2265111" cy="120282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8648CD8-9DEE-C2ED-4B56-72F593C64C0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07115" y="4963003"/>
            <a:ext cx="2205757" cy="131558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AAE6CA8-0245-009E-C398-5F3F35D4674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62736" y="5041728"/>
            <a:ext cx="2484722" cy="13155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81406" y="680323"/>
            <a:ext cx="13048893" cy="1325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Georgia" panose="02040502050405020303" pitchFamily="18" charset="0"/>
                <a:ea typeface="Inter Bold" pitchFamily="34" charset="-122"/>
                <a:cs typeface="Inter Bold" pitchFamily="34" charset="-120"/>
              </a:rPr>
              <a:t>User-Centric Design For Farmers</a:t>
            </a:r>
            <a:endParaRPr lang="en-US" sz="4400" dirty="0">
              <a:latin typeface="Georgia" panose="020405020504050203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102954" y="1645563"/>
            <a:ext cx="424220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1102954" y="1983105"/>
            <a:ext cx="3691414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1102954" y="2134791"/>
            <a:ext cx="2651403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Large Touch Targets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1102954" y="2585085"/>
            <a:ext cx="3691414" cy="131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Oversized buttons and interactive elements designed for easy navigation in field conditions, even with gloves or dirty hands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4992726" y="1645563"/>
            <a:ext cx="424220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4992726" y="1983105"/>
            <a:ext cx="3691414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4992726" y="2134791"/>
            <a:ext cx="2651403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Bilingual Support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4992726" y="2585085"/>
            <a:ext cx="3691414" cy="131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Hindi and English interfaces to remove language barriers and ensure widespread accessibility across rural India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102954" y="4256009"/>
            <a:ext cx="424220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1102954" y="4593551"/>
            <a:ext cx="7581186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1102954" y="4745236"/>
            <a:ext cx="2651403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 Indicators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1102954" y="5195531"/>
            <a:ext cx="7581186" cy="656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Color-coding system (Red/Yellow/Green) for soil health and weather alerts, enabling semi-literate users to take immediate action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102954" y="6234470"/>
            <a:ext cx="7581186" cy="656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Impact: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Empowers smallholder farmers by transforming complex data into an intuitive visual story they can act upon.</a:t>
            </a:r>
            <a:endParaRPr lang="en-US" sz="165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CB0A93E-DAB4-D554-D284-C3BE50E47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5499" y="1505932"/>
            <a:ext cx="3969099" cy="2125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8BE810-0265-E1DA-3896-1D3FC4917B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885"/>
          <a:stretch>
            <a:fillRect/>
          </a:stretch>
        </p:blipFill>
        <p:spPr>
          <a:xfrm>
            <a:off x="9376307" y="3778821"/>
            <a:ext cx="3850883" cy="34941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9890"/>
            <a:ext cx="13042702" cy="59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5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Georgia" panose="02040502050405020303" pitchFamily="18" charset="0"/>
                <a:ea typeface="Inter Bold" pitchFamily="34" charset="-122"/>
                <a:cs typeface="Inter Bold" pitchFamily="34" charset="-120"/>
              </a:rPr>
              <a:t>Backend Architecture: The Engine</a:t>
            </a:r>
            <a:endParaRPr lang="en-US" sz="4400" dirty="0">
              <a:latin typeface="Georgia" panose="02040502050405020303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923" y="1416305"/>
            <a:ext cx="9782056" cy="4476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89528" y="2071301"/>
            <a:ext cx="2163910" cy="270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Tier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589528" y="2418729"/>
            <a:ext cx="2385110" cy="378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for relational data, MongoDB for documents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684251" y="3542760"/>
            <a:ext cx="2163910" cy="270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 Tier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655399" y="3890188"/>
            <a:ext cx="2192762" cy="378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Express API with JWT auth and routing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589528" y="4302533"/>
            <a:ext cx="2163910" cy="270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Presentation Tier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589528" y="4649961"/>
            <a:ext cx="2385110" cy="378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frontend handling UI and user interactions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93907" y="5906621"/>
            <a:ext cx="4262557" cy="1442323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6788" y="6099502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Node.js &amp; Express.js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986788" y="6441687"/>
            <a:ext cx="387679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server-side framework handling secure JWT-based authentication and API routing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183921" y="5911961"/>
            <a:ext cx="4262557" cy="1442323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76802" y="6104842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Integration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5376802" y="6447027"/>
            <a:ext cx="3876794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Connects to OpenWeatherMap and AGMARKNET APIs for real-time environmental and market data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573935" y="5931274"/>
            <a:ext cx="4262557" cy="1442323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766816" y="612415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Cloudinary Storage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9766816" y="6466340"/>
            <a:ext cx="387679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 image processing and storage for crop diagnostics and documentation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427" y="755958"/>
            <a:ext cx="130503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Georgia" panose="02040502050405020303" pitchFamily="18" charset="0"/>
                <a:ea typeface="Inter Bold" pitchFamily="34" charset="-122"/>
                <a:cs typeface="Inter Bold" pitchFamily="34" charset="-120"/>
              </a:rPr>
              <a:t>Database &amp; AI Logic Integration</a:t>
            </a:r>
            <a:endParaRPr lang="en-US" sz="4450" dirty="0">
              <a:latin typeface="Georgia" panose="020405020504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322886" y="19987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5690" y="2490906"/>
            <a:ext cx="55648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Relational database storing soil history, disease logs, and user profiles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322886" y="3421142"/>
            <a:ext cx="55648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NoSQL storage for agricultural blogs, research documents, and multimedia content</a:t>
            </a:r>
            <a:endParaRPr lang="en-US" sz="175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D4C6DBB-000D-5C53-CBC4-9028A5632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72415"/>
              </p:ext>
            </p:extLst>
          </p:nvPr>
        </p:nvGraphicFramePr>
        <p:xfrm>
          <a:off x="4777740" y="4623197"/>
          <a:ext cx="8846820" cy="2590800"/>
        </p:xfrm>
        <a:graphic>
          <a:graphicData uri="http://schemas.openxmlformats.org/drawingml/2006/table">
            <a:tbl>
              <a:tblPr/>
              <a:tblGrid>
                <a:gridCol w="1866900">
                  <a:extLst>
                    <a:ext uri="{9D8B030D-6E8A-4147-A177-3AD203B41FA5}">
                      <a16:colId xmlns:a16="http://schemas.microsoft.com/office/drawing/2014/main" val="3270946543"/>
                    </a:ext>
                  </a:extLst>
                </a:gridCol>
                <a:gridCol w="2750820">
                  <a:extLst>
                    <a:ext uri="{9D8B030D-6E8A-4147-A177-3AD203B41FA5}">
                      <a16:colId xmlns:a16="http://schemas.microsoft.com/office/drawing/2014/main" val="1766166482"/>
                    </a:ext>
                  </a:extLst>
                </a:gridCol>
                <a:gridCol w="4229100">
                  <a:extLst>
                    <a:ext uri="{9D8B030D-6E8A-4147-A177-3AD203B41FA5}">
                      <a16:colId xmlns:a16="http://schemas.microsoft.com/office/drawing/2014/main" val="3430188297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25" b="1" i="0" u="none" strike="noStrike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Layer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3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25" b="1" i="0" u="none" strike="noStrike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Technology Used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3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25" b="1" i="0" u="none" strike="noStrike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Benefit to Farmer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3099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25" b="0" i="0" u="none" strike="noStrike">
                          <a:solidFill>
                            <a:srgbClr val="444444"/>
                          </a:solidFill>
                          <a:effectLst/>
                          <a:latin typeface="Lato" panose="020F0502020204030203" pitchFamily="34" charset="0"/>
                        </a:rPr>
                        <a:t>Data Management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25" b="0" i="0" u="none" strike="noStrike">
                          <a:solidFill>
                            <a:srgbClr val="444444"/>
                          </a:solidFill>
                          <a:effectLst/>
                          <a:latin typeface="Lato" panose="020F0502020204030203" pitchFamily="34" charset="0"/>
                        </a:rPr>
                        <a:t>Firebase Realtime Database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425" b="0" i="0" u="none" strike="noStrike">
                          <a:solidFill>
                            <a:srgbClr val="444444"/>
                          </a:solidFill>
                          <a:effectLst/>
                          <a:latin typeface="Lato" panose="020F0502020204030203" pitchFamily="34" charset="0"/>
                        </a:rPr>
                        <a:t>Instant price updates without manual refreshes.</a:t>
                      </a:r>
                      <a:endParaRPr lang="en-GB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190526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25" b="0" i="0" u="none" strike="noStrike">
                          <a:solidFill>
                            <a:srgbClr val="444444"/>
                          </a:solidFill>
                          <a:effectLst/>
                          <a:latin typeface="Lato" panose="020F0502020204030203" pitchFamily="34" charset="0"/>
                        </a:rPr>
                        <a:t>Cloud Backend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25" b="0" i="0" u="none" strike="noStrike">
                          <a:solidFill>
                            <a:srgbClr val="444444"/>
                          </a:solidFill>
                          <a:effectLst/>
                          <a:latin typeface="Lato" panose="020F0502020204030203" pitchFamily="34" charset="0"/>
                        </a:rPr>
                        <a:t>Google Cloud Platform (GCP)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425" b="0" i="0" u="none" strike="noStrike">
                          <a:solidFill>
                            <a:srgbClr val="444444"/>
                          </a:solidFill>
                          <a:effectLst/>
                          <a:latin typeface="Lato" panose="020F0502020204030203" pitchFamily="34" charset="0"/>
                        </a:rPr>
                        <a:t>99.9% availability for mission-critical farm tasks.</a:t>
                      </a:r>
                      <a:endParaRPr lang="en-GB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55532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25" b="0" i="0" u="none" strike="noStrike">
                          <a:solidFill>
                            <a:srgbClr val="444444"/>
                          </a:solidFill>
                          <a:effectLst/>
                          <a:latin typeface="Lato" panose="020F0502020204030203" pitchFamily="34" charset="0"/>
                        </a:rPr>
                        <a:t>Navigation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25" b="0" i="0" u="none" strike="noStrike">
                          <a:solidFill>
                            <a:srgbClr val="444444"/>
                          </a:solidFill>
                          <a:effectLst/>
                          <a:latin typeface="Lato" panose="020F0502020204030203" pitchFamily="34" charset="0"/>
                        </a:rPr>
                        <a:t>Google Maps API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425" b="0" i="0" u="none" strike="noStrike">
                          <a:solidFill>
                            <a:srgbClr val="444444"/>
                          </a:solidFill>
                          <a:effectLst/>
                          <a:latin typeface="Lato" panose="020F0502020204030203" pitchFamily="34" charset="0"/>
                        </a:rPr>
                        <a:t>Accurate path-finding to mandis and storage.</a:t>
                      </a:r>
                      <a:endParaRPr lang="en-GB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97255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25" b="0" i="0" u="none" strike="noStrike">
                          <a:solidFill>
                            <a:srgbClr val="444444"/>
                          </a:solidFill>
                          <a:effectLst/>
                          <a:latin typeface="Lato" panose="020F0502020204030203" pitchFamily="34" charset="0"/>
                        </a:rPr>
                        <a:t>AI Engine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25" b="0" i="0" u="none" strike="noStrike" dirty="0">
                          <a:solidFill>
                            <a:srgbClr val="444444"/>
                          </a:solidFill>
                          <a:effectLst/>
                          <a:latin typeface="Lato" panose="020F0502020204030203" pitchFamily="34" charset="0"/>
                        </a:rPr>
                        <a:t>TensorFlow Lite</a:t>
                      </a:r>
                      <a:endParaRPr lang="en-IN" dirty="0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GB" sz="1425" b="0" i="0" u="none" strike="noStrike" dirty="0">
                          <a:solidFill>
                            <a:srgbClr val="444444"/>
                          </a:solidFill>
                          <a:effectLst/>
                          <a:latin typeface="Lato" panose="020F0502020204030203" pitchFamily="34" charset="0"/>
                        </a:rPr>
                        <a:t>On-device pest detection for offline areas.</a:t>
                      </a:r>
                      <a:endParaRPr lang="en-GB" dirty="0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462020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C46C1107-0A39-FBB6-7D30-BC3013D3A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033" y="1481098"/>
            <a:ext cx="7116745" cy="29039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AE762F-2519-A4C5-29FA-4B3828AE45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5117"/>
          <a:stretch>
            <a:fillRect/>
          </a:stretch>
        </p:blipFill>
        <p:spPr>
          <a:xfrm>
            <a:off x="1020770" y="4623197"/>
            <a:ext cx="3606783" cy="14836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9235288-FF3D-0C1E-76F4-8F01B4D641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169" y="6096968"/>
            <a:ext cx="3315384" cy="13030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2555"/>
            <a:ext cx="130428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Georgia" panose="02040502050405020303" pitchFamily="18" charset="0"/>
                <a:ea typeface="Inter Bold" pitchFamily="34" charset="-122"/>
                <a:cs typeface="Inter Bold" pitchFamily="34" charset="-120"/>
              </a:rPr>
              <a:t>AI/ML Framework: Core Intelligence</a:t>
            </a:r>
            <a:endParaRPr lang="en-US" sz="4450" dirty="0">
              <a:latin typeface="Georgia" panose="02040502050405020303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1950244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5952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Foundation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90112" y="3027522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TensorFlow, Keras, and NumPy for building and training sophisticated machine learning models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55507" y="2028230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5080" y="2595206"/>
            <a:ext cx="40677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Natural Language Processing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124235" y="3026092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 classification in chatbot enables understanding of farmer queries in natural, conversational language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17224" y="1997123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2588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Predictive Analytics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6" y="3045799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historical data to suggest optimal crops for specific soil parameters and weather conditions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93790" y="5980332"/>
            <a:ext cx="13042821" cy="1326713"/>
          </a:xfrm>
          <a:prstGeom prst="roundRect">
            <a:avLst>
              <a:gd name="adj" fmla="val 7181"/>
            </a:avLst>
          </a:prstGeom>
          <a:solidFill>
            <a:srgbClr val="B6FCB8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0604" y="6324422"/>
            <a:ext cx="283488" cy="22681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30906" y="6263819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Innovation:</a:t>
            </a: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Moving from static information databases to dynamic, context-aware intelligence that learns from each interaction.</a:t>
            </a:r>
            <a:endParaRPr lang="en-US" sz="1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BFCF312-3777-97F1-30B3-D6765B1DD43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0394" b="15067"/>
          <a:stretch>
            <a:fillRect/>
          </a:stretch>
        </p:blipFill>
        <p:spPr>
          <a:xfrm>
            <a:off x="5155507" y="4269911"/>
            <a:ext cx="4068687" cy="157501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9910126-5ECF-63D9-8071-FEB75AB81A6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7278" y="4257341"/>
            <a:ext cx="2869644" cy="160015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A5845FD-7EB6-D923-44FF-A9888EE58A4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77996" y="4269911"/>
            <a:ext cx="3706408" cy="16089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6773" y="780522"/>
            <a:ext cx="130428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Georgia" panose="02040502050405020303" pitchFamily="18" charset="0"/>
                <a:ea typeface="Inter Bold" pitchFamily="34" charset="-122"/>
                <a:cs typeface="Inter Bold" pitchFamily="34" charset="-120"/>
              </a:rPr>
              <a:t>Deep Learning for Crop Diagnostics</a:t>
            </a:r>
            <a:endParaRPr lang="en-US" sz="4450" dirty="0">
              <a:latin typeface="Georgia" panose="020405020504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04806" y="2302638"/>
            <a:ext cx="50838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Convolutional Neural Network (CNN)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4806" y="2883036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Data: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15,000+ images from PlantVillage Dataset covering diverse crop diseases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004806" y="3760470"/>
            <a:ext cx="29903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Network Architecture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86773" y="4422398"/>
            <a:ext cx="6924437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layer: 224x224 pixel images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Conv2D layers for feature extraction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MaxPooling for dimensionality reduction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Dropout layers preventing overfitting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Softmax output for disease classification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34860"/>
          <a:stretch>
            <a:fillRect/>
          </a:stretch>
        </p:blipFill>
        <p:spPr>
          <a:xfrm>
            <a:off x="10118689" y="4593730"/>
            <a:ext cx="3624937" cy="21007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3790" y="68616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Detects diseases like Early Blight and Leaf Spot with 87%+ precision, enabling early intervention.</a:t>
            </a:r>
            <a:endParaRPr lang="en-US" sz="1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297E80-72FB-2131-7ECC-7ABEFC97881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9" t="14613" r="16759" b="8304"/>
          <a:stretch>
            <a:fillRect/>
          </a:stretch>
        </p:blipFill>
        <p:spPr bwMode="auto">
          <a:xfrm>
            <a:off x="8199285" y="1862805"/>
            <a:ext cx="1567543" cy="255959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E06CAEF5-7408-2186-4146-FF862481B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9894" y="1880890"/>
            <a:ext cx="3543819" cy="1984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4921FE41-58A4-E133-1A70-7280516A90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15" b="10838"/>
          <a:stretch>
            <a:fillRect/>
          </a:stretch>
        </p:blipFill>
        <p:spPr bwMode="auto">
          <a:xfrm>
            <a:off x="5635008" y="4571537"/>
            <a:ext cx="4011240" cy="1761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865883"/>
            <a:ext cx="12892095" cy="901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Georgia" panose="02040502050405020303" pitchFamily="18" charset="0"/>
                <a:ea typeface="Inter Bold" pitchFamily="34" charset="-122"/>
                <a:cs typeface="Inter Bold" pitchFamily="34" charset="-120"/>
              </a:rPr>
              <a:t>The </a:t>
            </a:r>
            <a:r>
              <a:rPr lang="en-US" sz="4400" b="1" dirty="0" err="1">
                <a:solidFill>
                  <a:srgbClr val="000000"/>
                </a:solidFill>
                <a:latin typeface="Georgia" panose="02040502050405020303" pitchFamily="18" charset="0"/>
                <a:ea typeface="Inter Bold" pitchFamily="34" charset="-122"/>
                <a:cs typeface="Inter Bold" pitchFamily="34" charset="-120"/>
              </a:rPr>
              <a:t>Kissan</a:t>
            </a:r>
            <a:r>
              <a:rPr lang="en-US" sz="4400" b="1" dirty="0">
                <a:solidFill>
                  <a:srgbClr val="000000"/>
                </a:solidFill>
                <a:latin typeface="Georgia" panose="02040502050405020303" pitchFamily="18" charset="0"/>
                <a:ea typeface="Inter Bold" pitchFamily="34" charset="-122"/>
                <a:cs typeface="Inter Bold" pitchFamily="34" charset="-120"/>
              </a:rPr>
              <a:t> Buddy: AI Chatbot</a:t>
            </a:r>
            <a:endParaRPr lang="en-US" sz="4400" dirty="0">
              <a:latin typeface="Georgia" panose="02040502050405020303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386671" y="2170652"/>
            <a:ext cx="3069201" cy="2734855"/>
          </a:xfrm>
          <a:prstGeom prst="roundRect">
            <a:avLst>
              <a:gd name="adj" fmla="val 349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75953" y="2423194"/>
            <a:ext cx="2696796" cy="71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Context-Aware Communication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475953" y="3219126"/>
            <a:ext cx="2696796" cy="1421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Powered by Google Gemini API, understands crop-specific queries based on your farm profile and history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10616683" y="2100328"/>
            <a:ext cx="3069201" cy="2698786"/>
          </a:xfrm>
          <a:prstGeom prst="roundRect">
            <a:avLst>
              <a:gd name="adj" fmla="val 349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678876" y="2421096"/>
            <a:ext cx="2255724" cy="351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Multimodal Learning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766071" y="2836642"/>
            <a:ext cx="2696809" cy="1402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Beyond text—integrated support for agricultural instructional videos and research PDFs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386672" y="4989104"/>
            <a:ext cx="6299214" cy="1577578"/>
          </a:xfrm>
          <a:prstGeom prst="roundRect">
            <a:avLst>
              <a:gd name="adj" fmla="val 573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35470" y="5308319"/>
            <a:ext cx="2245409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Community Diary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535470" y="5671451"/>
            <a:ext cx="5927410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Connects farmers to share tips, voice notes, and media for peer learning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944515" y="6912915"/>
            <a:ext cx="10018799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USP: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24/7 virtual agronomist in your pocket, providing expert guidance whenever needed.</a:t>
            </a:r>
            <a:endParaRPr lang="en-US" sz="16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7EC60A-3762-F601-620B-33A2BC554A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15"/>
          <a:stretch>
            <a:fillRect/>
          </a:stretch>
        </p:blipFill>
        <p:spPr>
          <a:xfrm>
            <a:off x="944515" y="2149090"/>
            <a:ext cx="6442156" cy="40289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46646-5274-BED3-2573-FEDCAE60B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8959A25-C034-2B96-93EC-60F7E1B37A45}"/>
              </a:ext>
            </a:extLst>
          </p:cNvPr>
          <p:cNvSpPr/>
          <p:nvPr/>
        </p:nvSpPr>
        <p:spPr>
          <a:xfrm>
            <a:off x="1235333" y="843677"/>
            <a:ext cx="9651325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Georgia" panose="02040502050405020303" pitchFamily="18" charset="0"/>
                <a:ea typeface="Inter Bold" pitchFamily="34" charset="-122"/>
                <a:cs typeface="Inter Bold" pitchFamily="34" charset="-120"/>
              </a:rPr>
              <a:t>Future Vision: The Agri-Smart Revolution</a:t>
            </a:r>
            <a:endParaRPr lang="en-US" sz="4400" dirty="0">
              <a:latin typeface="Georgia" panose="02040502050405020303" pitchFamily="18" charset="0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FF0599B4-2CCB-E28F-5541-9156A7AC6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574840"/>
            <a:ext cx="4347567" cy="77116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DBB267E-17C8-EA3B-0EAA-10599A5F405F}"/>
              </a:ext>
            </a:extLst>
          </p:cNvPr>
          <p:cNvSpPr/>
          <p:nvPr/>
        </p:nvSpPr>
        <p:spPr>
          <a:xfrm>
            <a:off x="986552" y="250983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+ IoT Integration</a:t>
            </a:r>
            <a:endParaRPr lang="en-US" sz="2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36AFB08-6F30-0898-AAB3-569A4308BAA4}"/>
              </a:ext>
            </a:extLst>
          </p:cNvPr>
          <p:cNvSpPr/>
          <p:nvPr/>
        </p:nvSpPr>
        <p:spPr>
          <a:xfrm>
            <a:off x="986552" y="2909292"/>
            <a:ext cx="3962043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Merging software with hardware: soil sensors and automated irrigation systems</a:t>
            </a:r>
            <a:endParaRPr lang="en-US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86E95015-80DA-DFA5-901E-75F5FCE383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1574840"/>
            <a:ext cx="4347567" cy="771168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9754D172-DAE9-3D97-68E6-ADD2AFC37F34}"/>
              </a:ext>
            </a:extLst>
          </p:cNvPr>
          <p:cNvSpPr/>
          <p:nvPr/>
        </p:nvSpPr>
        <p:spPr>
          <a:xfrm>
            <a:off x="5334119" y="250983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Drone Advantage</a:t>
            </a:r>
            <a:endParaRPr lang="en-US" sz="20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2BF39AF0-C8D2-58E6-EE46-1A4940174D0D}"/>
              </a:ext>
            </a:extLst>
          </p:cNvPr>
          <p:cNvSpPr/>
          <p:nvPr/>
        </p:nvSpPr>
        <p:spPr>
          <a:xfrm>
            <a:off x="5334119" y="2909292"/>
            <a:ext cx="3962043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NDVI vegetation mapping to spray pesticides 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where needed, reducing costs and environmental impact</a:t>
            </a:r>
            <a:endParaRPr lang="en-US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25083512-72AF-E6D5-3DD3-42D0B9D34F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1574840"/>
            <a:ext cx="4347567" cy="771168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DE864334-AE36-E2C9-57B7-5C4494500133}"/>
              </a:ext>
            </a:extLst>
          </p:cNvPr>
          <p:cNvSpPr/>
          <p:nvPr/>
        </p:nvSpPr>
        <p:spPr>
          <a:xfrm>
            <a:off x="9681686" y="250983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Machinery Rental</a:t>
            </a:r>
            <a:endParaRPr lang="en-US" sz="20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3E26DA7E-87CD-6BEC-B8B4-E5A397651C5B}"/>
              </a:ext>
            </a:extLst>
          </p:cNvPr>
          <p:cNvSpPr/>
          <p:nvPr/>
        </p:nvSpPr>
        <p:spPr>
          <a:xfrm>
            <a:off x="9681686" y="2909292"/>
            <a:ext cx="3962043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system providing expensive precision farming equipment to small farmers at affordable costs</a:t>
            </a:r>
            <a:endParaRPr lang="en-US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AB40D3D2-9EEB-F933-05DE-14FF9E4DF8D5}"/>
              </a:ext>
            </a:extLst>
          </p:cNvPr>
          <p:cNvSpPr/>
          <p:nvPr/>
        </p:nvSpPr>
        <p:spPr>
          <a:xfrm>
            <a:off x="793790" y="4190286"/>
            <a:ext cx="13042821" cy="1440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CFD79E1-E5ED-C09D-0D47-35D93AF980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552" y="4328397"/>
            <a:ext cx="5832217" cy="312470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E7A6EC3-34A8-6D4B-0AB4-D69D34D4025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624" t="3241" r="2624" b="17361"/>
          <a:stretch>
            <a:fillRect/>
          </a:stretch>
        </p:blipFill>
        <p:spPr>
          <a:xfrm>
            <a:off x="7579037" y="4328397"/>
            <a:ext cx="6064692" cy="3124706"/>
          </a:xfrm>
          <a:prstGeom prst="rect">
            <a:avLst/>
          </a:prstGeom>
        </p:spPr>
      </p:pic>
      <p:sp>
        <p:nvSpPr>
          <p:cNvPr id="20" name="Arrow: Left-Right 19">
            <a:extLst>
              <a:ext uri="{FF2B5EF4-FFF2-40B4-BE49-F238E27FC236}">
                <a16:creationId xmlns:a16="http://schemas.microsoft.com/office/drawing/2014/main" id="{0FC57498-848A-30DD-7229-4A8E79632037}"/>
              </a:ext>
            </a:extLst>
          </p:cNvPr>
          <p:cNvSpPr/>
          <p:nvPr/>
        </p:nvSpPr>
        <p:spPr>
          <a:xfrm>
            <a:off x="6818769" y="5609391"/>
            <a:ext cx="760268" cy="43958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357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8">
            <a:extLst>
              <a:ext uri="{FF2B5EF4-FFF2-40B4-BE49-F238E27FC236}">
                <a16:creationId xmlns:a16="http://schemas.microsoft.com/office/drawing/2014/main" id="{897AC512-D009-6CAA-BAED-5DE4D81058E4}"/>
              </a:ext>
            </a:extLst>
          </p:cNvPr>
          <p:cNvSpPr/>
          <p:nvPr/>
        </p:nvSpPr>
        <p:spPr>
          <a:xfrm>
            <a:off x="833955" y="1020047"/>
            <a:ext cx="13042820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Georgia" panose="02040502050405020303" pitchFamily="18" charset="0"/>
                <a:ea typeface="Inter Bold" pitchFamily="34" charset="-122"/>
                <a:cs typeface="Inter Bold" pitchFamily="34" charset="-120"/>
              </a:rPr>
              <a:t>Conclusion &amp; Impact</a:t>
            </a:r>
            <a:endParaRPr lang="en-US" sz="4400" dirty="0">
              <a:latin typeface="Georgia" panose="02040502050405020303" pitchFamily="18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79B6926B-D797-DA45-5D1D-FF8DE12B8B8C}"/>
              </a:ext>
            </a:extLst>
          </p:cNvPr>
          <p:cNvSpPr/>
          <p:nvPr/>
        </p:nvSpPr>
        <p:spPr>
          <a:xfrm>
            <a:off x="1004806" y="6688679"/>
            <a:ext cx="1304282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Kissan Buddy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isn't just an app—it's a comprehensive decision-support system directly contributing to </a:t>
            </a:r>
            <a:r>
              <a:rPr lang="en-US" sz="1500" b="1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India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500" b="1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Atmanirbhar Krishi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missions.</a:t>
            </a:r>
            <a:endParaRPr lang="en-US" sz="15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1C4CDD23-F225-A023-7082-09481B900015}"/>
              </a:ext>
            </a:extLst>
          </p:cNvPr>
          <p:cNvSpPr/>
          <p:nvPr/>
        </p:nvSpPr>
        <p:spPr>
          <a:xfrm>
            <a:off x="833955" y="5676749"/>
            <a:ext cx="13042821" cy="100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scadia Mono" panose="020B0609020000020004" pitchFamily="49" charset="0"/>
                <a:ea typeface="Inter Bold" pitchFamily="34" charset="-122"/>
                <a:cs typeface="Cascadia Mono" panose="020B0609020000020004" pitchFamily="49" charset="0"/>
              </a:rPr>
              <a:t>Using Data Science to ensure no farmer has to rely on guesswork again</a:t>
            </a:r>
            <a:endParaRPr lang="en-US" sz="32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259378-1BAE-C604-46E4-65DFD95A4E19}"/>
              </a:ext>
            </a:extLst>
          </p:cNvPr>
          <p:cNvSpPr txBox="1"/>
          <p:nvPr/>
        </p:nvSpPr>
        <p:spPr>
          <a:xfrm>
            <a:off x="1290465" y="1770546"/>
            <a:ext cx="24336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Heebo" pitchFamily="2" charset="-79"/>
                <a:cs typeface="Heebo" pitchFamily="2" charset="-79"/>
              </a:rPr>
              <a:t>National Alignment </a:t>
            </a:r>
            <a:endParaRPr lang="en-IN" sz="2000" b="1" dirty="0">
              <a:latin typeface="Heebo" pitchFamily="2" charset="-79"/>
              <a:cs typeface="Heebo" pitchFamily="2" charset="-79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EB6C0F1-87EE-481C-DE63-C68A7A5B7D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33955" y="1704186"/>
            <a:ext cx="454163" cy="454163"/>
          </a:xfrm>
          <a:prstGeom prst="rect">
            <a:avLst/>
          </a:prstGeom>
        </p:spPr>
      </p:pic>
      <p:sp>
        <p:nvSpPr>
          <p:cNvPr id="22" name="Rectangle 1">
            <a:extLst>
              <a:ext uri="{FF2B5EF4-FFF2-40B4-BE49-F238E27FC236}">
                <a16:creationId xmlns:a16="http://schemas.microsoft.com/office/drawing/2014/main" id="{8366A159-85E5-DA4B-4D03-F72432FAA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955" y="2152618"/>
            <a:ext cx="552485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Digital India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promoting digital empowerment in rural areas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Atmanirbhar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Bharat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(especially in agriculture) – reducing dependency and improving self-sustainability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CF7FE4-0BB1-9F2C-F556-48C5BE5B7C5A}"/>
              </a:ext>
            </a:extLst>
          </p:cNvPr>
          <p:cNvSpPr txBox="1"/>
          <p:nvPr/>
        </p:nvSpPr>
        <p:spPr>
          <a:xfrm>
            <a:off x="9187781" y="1806790"/>
            <a:ext cx="734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Heebo" pitchFamily="2" charset="-79"/>
                <a:cs typeface="Heebo" pitchFamily="2" charset="-79"/>
              </a:rPr>
              <a:t>🌱 </a:t>
            </a:r>
            <a:r>
              <a:rPr lang="en-IN" sz="2000" b="1" dirty="0">
                <a:latin typeface="Heebo" pitchFamily="2" charset="-79"/>
                <a:cs typeface="Heebo" pitchFamily="2" charset="-79"/>
              </a:rPr>
              <a:t>Agricultural Impact</a:t>
            </a:r>
            <a:endParaRPr lang="en-IN" sz="2000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9B512B-6E1E-4559-BE46-F3C6EC2DA39B}"/>
              </a:ext>
            </a:extLst>
          </p:cNvPr>
          <p:cNvSpPr txBox="1"/>
          <p:nvPr/>
        </p:nvSpPr>
        <p:spPr>
          <a:xfrm>
            <a:off x="9187781" y="2184666"/>
            <a:ext cx="48666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2400" dirty="0"/>
              <a:t>Increased Crop Productivity</a:t>
            </a:r>
          </a:p>
          <a:p>
            <a:pPr marL="342900" indent="-342900">
              <a:buAutoNum type="arabicPeriod"/>
            </a:pPr>
            <a:r>
              <a:rPr lang="en-IN" sz="2400" dirty="0"/>
              <a:t>Reduced Crop Loss</a:t>
            </a:r>
          </a:p>
          <a:p>
            <a:pPr marL="342900" indent="-342900">
              <a:buAutoNum type="arabicPeriod"/>
            </a:pPr>
            <a:r>
              <a:rPr lang="en-IN" sz="2400" dirty="0"/>
              <a:t>Smart Resource Utilization</a:t>
            </a:r>
          </a:p>
          <a:p>
            <a:pPr marL="342900" indent="-342900">
              <a:buAutoNum type="arabicPeriod"/>
            </a:pPr>
            <a:r>
              <a:rPr lang="en-IN" sz="2400" dirty="0"/>
              <a:t>Data-Driven Decision Making</a:t>
            </a:r>
          </a:p>
          <a:p>
            <a:pPr marL="342900" indent="-342900">
              <a:buAutoNum type="arabicPeriod"/>
            </a:pPr>
            <a:r>
              <a:rPr lang="en-IN" sz="2400" dirty="0"/>
              <a:t>Better Market Access &amp; Profitability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F5E58CD-7E21-DEEB-B3A6-933CF47733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3281" y="1650716"/>
            <a:ext cx="2631888" cy="263188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B4D4224-BB63-5F53-38E3-E2884AA21AA6}"/>
              </a:ext>
            </a:extLst>
          </p:cNvPr>
          <p:cNvSpPr txBox="1"/>
          <p:nvPr/>
        </p:nvSpPr>
        <p:spPr>
          <a:xfrm>
            <a:off x="5351579" y="4340419"/>
            <a:ext cx="40075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Thank You!</a:t>
            </a:r>
            <a:endParaRPr lang="en-IN" sz="6000" b="1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492</TotalTime>
  <Words>870</Words>
  <Application>Microsoft Office PowerPoint</Application>
  <PresentationFormat>Custom</PresentationFormat>
  <Paragraphs>133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Cascadia Mono</vt:lpstr>
      <vt:lpstr>Lato</vt:lpstr>
      <vt:lpstr>Poppins</vt:lpstr>
      <vt:lpstr>Inter Light</vt:lpstr>
      <vt:lpstr>Heebo</vt:lpstr>
      <vt:lpstr>Inter Bold</vt:lpstr>
      <vt:lpstr>Georgia</vt:lpstr>
      <vt:lpstr>Algerian</vt:lpstr>
      <vt:lpstr>Inter</vt:lpstr>
      <vt:lpstr>Arial</vt:lpstr>
      <vt:lpstr>Garamond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Naman Sharan Yadav</dc:creator>
  <cp:lastModifiedBy>Naman Sharan Yadav</cp:lastModifiedBy>
  <cp:revision>2</cp:revision>
  <dcterms:created xsi:type="dcterms:W3CDTF">2026-04-29T06:43:27Z</dcterms:created>
  <dcterms:modified xsi:type="dcterms:W3CDTF">2026-04-29T15:01:44Z</dcterms:modified>
</cp:coreProperties>
</file>